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4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99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743200" cy="2743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926080" cy="29260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8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DESIGN — MINI PROJECT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SQL Query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Compile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34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compiler front end and evaluator for a subset of SQL — covering lexical analysis, parsing, semantic checks, and query execution.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486399"/>
            <a:ext cx="5852160" cy="1076325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-781050" y="5731573"/>
            <a:ext cx="5852160" cy="424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D9C4"/>
                </a:solidFill>
                <a:latin typeface="Courier New" pitchFamily="34" charset="0"/>
                <a:cs typeface="Courier New" pitchFamily="34" charset="-120"/>
              </a:rPr>
              <a:t>Made By: Sai Shashank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8FD9C4"/>
                </a:solidFill>
                <a:latin typeface="Courier New" pitchFamily="34" charset="0"/>
                <a:cs typeface="Courier New" pitchFamily="34" charset="-120"/>
              </a:rPr>
              <a:t>   Jaideep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8FD9C4"/>
                </a:solidFill>
                <a:latin typeface="Courier New" pitchFamily="34" charset="0"/>
                <a:cs typeface="Courier New" pitchFamily="34" charset="-120"/>
              </a:rPr>
              <a:t>     Maheshwar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8FD9C4"/>
                </a:solidFill>
                <a:latin typeface="Courier New" pitchFamily="34" charset="0"/>
                <a:cs typeface="Courier New" pitchFamily="34" charset="-120"/>
              </a:rPr>
              <a:t>   Adhithya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64008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the standard, declarative language used to query and manipulate relational databases.</a:t>
            </a:r>
            <a:endParaRPr lang="en-US" sz="1600" dirty="0"/>
          </a:p>
          <a:p>
            <a:pPr marL="0" indent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declarative SQL statement into an executable action is fundamentally a compilation problem — the same phases used for programming languages apply.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mini compiler that reads a restricted SQL subset and takes it all the way from raw text to an executed result.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1417320"/>
            <a:ext cx="4434840" cy="4480560"/>
          </a:xfrm>
          <a:prstGeom prst="roundRect">
            <a:avLst>
              <a:gd name="adj" fmla="val 2062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169164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Why treat SQL as a</a:t>
            </a:r>
            <a:endParaRPr lang="en-US" sz="17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compiler problem?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98080" y="263347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0" y="24963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must be tokenized, parsed &amp; validated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98080" y="34747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0" y="33375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need to be caught before execution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98080" y="431596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0" y="417880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representation (AST) drives evaluation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98080" y="515721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0" y="502005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how real database engines work internally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2005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SQL Query and Compile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64008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2606040" cy="4160520"/>
          </a:xfrm>
          <a:prstGeom prst="roundRect">
            <a:avLst>
              <a:gd name="adj" fmla="val 3158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47088"/>
            <a:ext cx="548640" cy="54864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0604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Tokenize Input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337560"/>
            <a:ext cx="20939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lexical analyzer that converts raw SQL text into a clean stream of tokens.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74136" y="1554480"/>
            <a:ext cx="2606040" cy="4160520"/>
          </a:xfrm>
          <a:prstGeom prst="roundRect">
            <a:avLst>
              <a:gd name="adj" fmla="val 3158"/>
            </a:avLst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3630168" y="1847088"/>
            <a:ext cx="548640" cy="54864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30168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260604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 &amp; Validate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3337560"/>
            <a:ext cx="20939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parser that checks statements against a formal SQL grammar and builds an AST.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99632" y="1554480"/>
            <a:ext cx="2606040" cy="4160520"/>
          </a:xfrm>
          <a:prstGeom prst="roundRect">
            <a:avLst>
              <a:gd name="adj" fmla="val 3158"/>
            </a:avLst>
          </a:prstGeom>
          <a:solidFill>
            <a:srgbClr val="065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5664" y="1847088"/>
            <a:ext cx="548640" cy="54864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55664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260604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Semantics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3337560"/>
            <a:ext cx="20939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table/column existence and type correctness using a symbol table.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25128" y="1554480"/>
            <a:ext cx="2606040" cy="4160520"/>
          </a:xfrm>
          <a:prstGeom prst="roundRect">
            <a:avLst>
              <a:gd name="adj" fmla="val 3158"/>
            </a:avLst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9281160" y="1847088"/>
            <a:ext cx="548640" cy="54864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1160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60604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 Queries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337560"/>
            <a:ext cx="20939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AST into an intermediate form and evaluate it against sample data.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SQL Query and Compile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pipeline — from raw SQL text to a query result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2940" y="2331720"/>
            <a:ext cx="1627632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 w="9525">
            <a:solidFill>
              <a:srgbClr val="8FD9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" y="2441448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08660" y="306324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t;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90572" y="2825496"/>
            <a:ext cx="219456" cy="201168"/>
          </a:xfrm>
          <a:prstGeom prst="rightArrow">
            <a:avLst/>
          </a:prstGeom>
          <a:solidFill>
            <a:srgbClr val="8FD9C4"/>
          </a:solidFill>
          <a:ln/>
        </p:spPr>
      </p:sp>
      <p:sp>
        <p:nvSpPr>
          <p:cNvPr id="8" name="Shape 6"/>
          <p:cNvSpPr/>
          <p:nvPr/>
        </p:nvSpPr>
        <p:spPr>
          <a:xfrm>
            <a:off x="2510028" y="2331720"/>
            <a:ext cx="1627632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 w="9525">
            <a:solidFill>
              <a:srgbClr val="8FD9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55748" y="2441448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55748" y="306324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37660" y="2825496"/>
            <a:ext cx="219456" cy="201168"/>
          </a:xfrm>
          <a:prstGeom prst="rightArrow">
            <a:avLst/>
          </a:prstGeom>
          <a:solidFill>
            <a:srgbClr val="8FD9C4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7116" y="2331720"/>
            <a:ext cx="1627632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 w="9525">
            <a:solidFill>
              <a:srgbClr val="8FD9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02836" y="2441448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02836" y="306324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 Tree / AST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84748" y="2825496"/>
            <a:ext cx="219456" cy="201168"/>
          </a:xfrm>
          <a:prstGeom prst="rightArrow">
            <a:avLst/>
          </a:prstGeom>
          <a:solidFill>
            <a:srgbClr val="8FD9C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04204" y="2331720"/>
            <a:ext cx="1627632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 w="9525">
            <a:solidFill>
              <a:srgbClr val="8FD9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49924" y="2441448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49924" y="306324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Validated AST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831836" y="2825496"/>
            <a:ext cx="219456" cy="201168"/>
          </a:xfrm>
          <a:prstGeom prst="rightArrow">
            <a:avLst/>
          </a:prstGeom>
          <a:solidFill>
            <a:srgbClr val="8FD9C4"/>
          </a:solidFill>
          <a:ln/>
        </p:spPr>
      </p:sp>
      <p:sp>
        <p:nvSpPr>
          <p:cNvPr id="20" name="Shape 18"/>
          <p:cNvSpPr/>
          <p:nvPr/>
        </p:nvSpPr>
        <p:spPr>
          <a:xfrm>
            <a:off x="8051292" y="2331720"/>
            <a:ext cx="1627632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 w="9525">
            <a:solidFill>
              <a:srgbClr val="8FD9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97012" y="2441448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097012" y="306324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Relational Ops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678924" y="2825496"/>
            <a:ext cx="219456" cy="201168"/>
          </a:xfrm>
          <a:prstGeom prst="rightArrow">
            <a:avLst/>
          </a:prstGeom>
          <a:solidFill>
            <a:srgbClr val="8FD9C4"/>
          </a:solidFill>
          <a:ln/>
        </p:spPr>
      </p:sp>
      <p:sp>
        <p:nvSpPr>
          <p:cNvPr id="24" name="Shape 22"/>
          <p:cNvSpPr/>
          <p:nvPr/>
        </p:nvSpPr>
        <p:spPr>
          <a:xfrm>
            <a:off x="9898380" y="2331720"/>
            <a:ext cx="1627632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 w="9525">
            <a:solidFill>
              <a:srgbClr val="8FD9C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44100" y="2441448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944100" y="306324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Set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1605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passes a validated, richer representation of the query to the next — mirroring a general-purpose compiler's front end and back end.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SQL Query and Compile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Lexical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64008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577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raw SQL string character by character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Recognizes keywords (SELECT, FROM, WHERE, INSERT …)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identifiers, numeric &amp; string literals, operators, punctuation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whitespace and comments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illegal characters as lexical errors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46520" y="14630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20840" y="16642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Tokenized Output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20848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student WHERE age &gt; 20;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2542032"/>
          <a:ext cx="4663440" cy="25908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Lexeme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KEYWORD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IDENTIFIER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KEYWORD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student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IDENTIFIER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KEYWORD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IDENTIFIER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OPERATOR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INT_LITERAL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SEMICOLON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SQL Query and Compile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Syntax Analysis (Parsing)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64008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the token stream from the lexer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context-free grammar for the supported SQL subset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recursive-descent (or grammar-driven) parsing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parse tree / Abstract Syntax Tree (AST)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syntax errors with the offending token &amp; position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989320" y="1463040"/>
            <a:ext cx="5669280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6364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Resulting AST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38160" y="2148840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1C7293"/>
          </a:solidFill>
          <a:ln w="9525">
            <a:solidFill>
              <a:srgbClr val="8FD9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38160" y="21488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SELECT_STMT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83680" y="306324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 w="9525">
            <a:solidFill>
              <a:srgbClr val="8FD9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30632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(name)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83880" y="306324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 w="9525">
            <a:solidFill>
              <a:srgbClr val="8FD9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30632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784080" y="306324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 w="9525">
            <a:solidFill>
              <a:srgbClr val="8FD9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784080" y="30632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 &gt; 20)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flipV="1">
            <a:off x="7315200" y="2807208"/>
            <a:ext cx="1600200" cy="256032"/>
          </a:xfrm>
          <a:prstGeom prst="line">
            <a:avLst/>
          </a:prstGeom>
          <a:noFill/>
          <a:ln w="15875">
            <a:solidFill>
              <a:srgbClr val="8FD9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15400" y="2807208"/>
            <a:ext cx="0" cy="256032"/>
          </a:xfrm>
          <a:prstGeom prst="line">
            <a:avLst/>
          </a:prstGeom>
          <a:noFill/>
          <a:ln w="15875">
            <a:solidFill>
              <a:srgbClr val="8FD9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2807208"/>
            <a:ext cx="1600200" cy="256032"/>
          </a:xfrm>
          <a:prstGeom prst="line">
            <a:avLst/>
          </a:prstGeom>
          <a:noFill/>
          <a:ln w="15875">
            <a:solidFill>
              <a:srgbClr val="8FD9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397764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AST is the structured, unambiguous representation every later phase relies on.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SQL Query and Compile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Semantic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64008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760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the AST against a symbol table of tables, columns &amp; types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referenced tables and columns actually exist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type compatibility in comparisons &amp; expressions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correct use of aggregate functions (COUNT, SUM …)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fully validated AST ready for code generation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720840" y="1463040"/>
            <a:ext cx="4937760" cy="4434840"/>
          </a:xfrm>
          <a:prstGeom prst="roundRect">
            <a:avLst>
              <a:gd name="adj" fmla="val 1649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95160" y="16642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 Table — student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2103120"/>
          <a:ext cx="4389120" cy="15544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marks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6995160" y="416052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error caught:
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“column 'grade' does not exist in table 'student'”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SQL Query and Compile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Phase 4 — Code Generation &amp; Execution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64008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validated AST is translated into a relational-algebra-style intermediate form (σ, π, ⋈)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executor evaluates this form against an in-memory data store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selection (filtering), projection (columns), and basic joins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final result set returned to the user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48463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8463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Validated AST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94760" y="5271516"/>
            <a:ext cx="502920" cy="201168"/>
          </a:xfrm>
          <a:prstGeom prst="rightArrow">
            <a:avLst/>
          </a:prstGeom>
          <a:solidFill>
            <a:srgbClr val="5B6773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48463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97680" y="48463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πname(σage&gt;20(student))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543800" y="5271516"/>
            <a:ext cx="502920" cy="201168"/>
          </a:xfrm>
          <a:prstGeom prst="rightArrow">
            <a:avLst/>
          </a:prstGeom>
          <a:solidFill>
            <a:srgbClr val="5B6773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0" y="48463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0" y="48463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Table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1463040"/>
            <a:ext cx="4937760" cy="3291840"/>
          </a:xfrm>
          <a:prstGeom prst="roundRect">
            <a:avLst>
              <a:gd name="adj" fmla="val 2222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16642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Result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2103120"/>
          <a:ext cx="4389120" cy="1243584"/>
        </p:xfrm>
        <a:graphic>
          <a:graphicData uri="http://schemas.openxmlformats.org/drawingml/2006/table">
            <a:tbl>
              <a:tblPr/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Anita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Rahul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Divya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SQL Query and Compile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640080" cy="45720"/>
          </a:xfrm>
          <a:prstGeom prst="rect">
            <a:avLst/>
          </a:prstGeom>
          <a:solidFill>
            <a:srgbClr val="8FD9C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2606040" cy="4206240"/>
          </a:xfrm>
          <a:prstGeom prst="roundRect">
            <a:avLst>
              <a:gd name="adj" fmla="val 3158"/>
            </a:avLst>
          </a:prstGeom>
          <a:solidFill>
            <a:srgbClr val="1B3A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9280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0604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8F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91840"/>
            <a:ext cx="20939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Java for implementing lexer, parser &amp; evaluator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74136" y="1600200"/>
            <a:ext cx="2606040" cy="4206240"/>
          </a:xfrm>
          <a:prstGeom prst="roundRect">
            <a:avLst>
              <a:gd name="adj" fmla="val 3158"/>
            </a:avLst>
          </a:prstGeom>
          <a:solidFill>
            <a:srgbClr val="1B3A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0168" y="189280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30168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260604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8F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Parsing Approach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3291840"/>
            <a:ext cx="20939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recursive-descent parser over a defined SQL grammar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99632" y="1600200"/>
            <a:ext cx="2606040" cy="4206240"/>
          </a:xfrm>
          <a:prstGeom prst="roundRect">
            <a:avLst>
              <a:gd name="adj" fmla="val 3158"/>
            </a:avLst>
          </a:prstGeom>
          <a:solidFill>
            <a:srgbClr val="1B3A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189280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55664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260604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8F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Storage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3291840"/>
            <a:ext cx="20939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tables (lists / dictionaries) simulating a database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25128" y="1600200"/>
            <a:ext cx="2606040" cy="4206240"/>
          </a:xfrm>
          <a:prstGeom prst="roundRect">
            <a:avLst>
              <a:gd name="adj" fmla="val 3158"/>
            </a:avLst>
          </a:prstGeom>
          <a:solidFill>
            <a:srgbClr val="1B3A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189280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116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60604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8F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291840"/>
            <a:ext cx="20939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test suite of valid &amp; malformed SQL statements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SQL Query and Compile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64008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Well-formed SELECT, INSERT, UPDATE &amp; DELETE statements execute correctly against sample data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statements are rejected at the correct phase (lexical, syntax or semantic)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messages identify the offending token / column and its location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phase's intermediate output (tokens, AST, symbol table) can be inspected independently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675120" y="1508760"/>
            <a:ext cx="2331720" cy="1965960"/>
          </a:xfrm>
          <a:prstGeom prst="roundRect">
            <a:avLst>
              <a:gd name="adj" fmla="val 4186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0" y="16002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812280" y="25146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front-end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implemented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281160" y="1508760"/>
            <a:ext cx="2331720" cy="1965960"/>
          </a:xfrm>
          <a:prstGeom prst="roundRect">
            <a:avLst>
              <a:gd name="adj" fmla="val 4186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281160" y="16002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25146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statement types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75120" y="3703320"/>
            <a:ext cx="4937760" cy="2011680"/>
          </a:xfrm>
          <a:prstGeom prst="roundRect">
            <a:avLst>
              <a:gd name="adj" fmla="val 4091"/>
            </a:avLst>
          </a:prstGeom>
          <a:solidFill>
            <a:srgbClr val="F4F8FA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03720" y="3886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test outcome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42976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r>
              <a:rPr lang="en-US" sz="1150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FORM student;
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150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 Error — unexpected token 'FORM' near position 9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SQL Query and Compile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5029200"/>
            <a:ext cx="3200400" cy="32004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400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640080" cy="45720"/>
          </a:xfrm>
          <a:prstGeom prst="rect">
            <a:avLst/>
          </a:prstGeom>
          <a:solidFill>
            <a:srgbClr val="8FD9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E5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implemented the core front-end phases of a compiler for a real, widely used language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E5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Reinforces lexical/syntax/semantic analysis and AST-driven evaluation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E5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correct results for valid queries and clear diagnostics for invalid ones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103120"/>
            <a:ext cx="5303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E5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multi-table JOINs and nested sub-queries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E5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query optimizer for execution plans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E5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data to disk instead of in-memory tables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E5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GROUP BY / ORDER BY and more aggregate functions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577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SQL Query and Compile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901</Words>
  <Application>Microsoft Office PowerPoint</Application>
  <PresentationFormat>Widescreen</PresentationFormat>
  <Paragraphs>194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 Adhithya</cp:lastModifiedBy>
  <cp:revision>2</cp:revision>
  <dcterms:created xsi:type="dcterms:W3CDTF">2026-09-01T02:58:08Z</dcterms:created>
  <dcterms:modified xsi:type="dcterms:W3CDTF">2026-09-01T03:08:49Z</dcterms:modified>
</cp:coreProperties>
</file>